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92334eed4464de1" /><Relationship Type="http://schemas.openxmlformats.org/officeDocument/2006/relationships/extended-properties" Target="/docProps/app.xml" Id="R47ce86aa6ddf4fd5" /><Relationship Type="http://schemas.openxmlformats.org/officeDocument/2006/relationships/officeDocument" Target="/ppt/presentation.xml" Id="R84ef51c6590a4fe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10c6b7cdd3549e4"/>
  </p:sldMasterIdLst>
  <p:notesMasterIdLst>
    <p:notesMasterId xmlns:r="http://schemas.openxmlformats.org/officeDocument/2006/relationships" r:id="R04c38deb738d44fb"/>
  </p:notesMasterIdLst>
  <p:sldIdLst>
    <p:sldId xmlns:r="http://schemas.openxmlformats.org/officeDocument/2006/relationships" id="256" r:id="R38841d20e4574354"/>
    <p:sldId xmlns:r="http://schemas.openxmlformats.org/officeDocument/2006/relationships" id="257" r:id="R48fb7d2f9b714208"/>
    <p:sldId xmlns:r="http://schemas.openxmlformats.org/officeDocument/2006/relationships" id="258" r:id="Rbf4a8f9766e04749"/>
    <p:sldId xmlns:r="http://schemas.openxmlformats.org/officeDocument/2006/relationships" id="259" r:id="Rd9ecc196e75a40d8"/>
    <p:sldId xmlns:r="http://schemas.openxmlformats.org/officeDocument/2006/relationships" id="260" r:id="R4c6e874d7c5c4390"/>
    <p:sldId xmlns:r="http://schemas.openxmlformats.org/officeDocument/2006/relationships" id="261" r:id="Ra82ec3d48de148ed"/>
    <p:sldId xmlns:r="http://schemas.openxmlformats.org/officeDocument/2006/relationships" id="262" r:id="R15a244c4395d4f43"/>
    <p:sldId xmlns:r="http://schemas.openxmlformats.org/officeDocument/2006/relationships" id="263" r:id="R0fd431be33ec4c3e"/>
    <p:sldId xmlns:r="http://schemas.openxmlformats.org/officeDocument/2006/relationships" id="264" r:id="R62dea6e2dc1f480d"/>
    <p:sldId xmlns:r="http://schemas.openxmlformats.org/officeDocument/2006/relationships" id="265" r:id="R4352d43f0a06486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79f8c554b2c4252" /><Relationship Type="http://schemas.openxmlformats.org/officeDocument/2006/relationships/slideMaster" Target="/ppt/slideMasters/slideMaster1.xml" Id="R310c6b7cdd3549e4" /><Relationship Type="http://schemas.openxmlformats.org/officeDocument/2006/relationships/notesMaster" Target="/ppt/notesMasters/notesMaster1.xml" Id="R04c38deb738d44fb" /><Relationship Type="http://schemas.openxmlformats.org/officeDocument/2006/relationships/presProps" Target="/ppt/presProps.xml" Id="Raacffc391a2c4630" /><Relationship Type="http://schemas.openxmlformats.org/officeDocument/2006/relationships/tableStyles" Target="/ppt/tableStyles.xml" Id="R593f9ba065b14c02" /><Relationship Type="http://schemas.openxmlformats.org/officeDocument/2006/relationships/slide" Target="/ppt/slides/slide1.xml" Id="R38841d20e4574354" /><Relationship Type="http://schemas.openxmlformats.org/officeDocument/2006/relationships/slide" Target="/ppt/slides/slide2.xml" Id="R48fb7d2f9b714208" /><Relationship Type="http://schemas.openxmlformats.org/officeDocument/2006/relationships/slide" Target="/ppt/slides/slide3.xml" Id="Rbf4a8f9766e04749" /><Relationship Type="http://schemas.openxmlformats.org/officeDocument/2006/relationships/slide" Target="/ppt/slides/slide4.xml" Id="Rd9ecc196e75a40d8" /><Relationship Type="http://schemas.openxmlformats.org/officeDocument/2006/relationships/slide" Target="/ppt/slides/slide5.xml" Id="R4c6e874d7c5c4390" /><Relationship Type="http://schemas.openxmlformats.org/officeDocument/2006/relationships/slide" Target="/ppt/slides/slide6.xml" Id="Ra82ec3d48de148ed" /><Relationship Type="http://schemas.openxmlformats.org/officeDocument/2006/relationships/slide" Target="/ppt/slides/slide7.xml" Id="R15a244c4395d4f43" /><Relationship Type="http://schemas.openxmlformats.org/officeDocument/2006/relationships/slide" Target="/ppt/slides/slide8.xml" Id="R0fd431be33ec4c3e" /><Relationship Type="http://schemas.openxmlformats.org/officeDocument/2006/relationships/slide" Target="/ppt/slides/slide9.xml" Id="R62dea6e2dc1f480d" /><Relationship Type="http://schemas.openxmlformats.org/officeDocument/2006/relationships/slide" Target="/ppt/slides/slide10.xml" Id="R4352d43f0a06486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818df6568c649a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95da59f69e440e0" /><Relationship Type="http://schemas.openxmlformats.org/officeDocument/2006/relationships/notesMaster" Target="/ppt/notesMasters/notesMaster1.xml" Id="R7b261aa068e14de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b6351e72ec849ba" /><Relationship Type="http://schemas.openxmlformats.org/officeDocument/2006/relationships/notesMaster" Target="/ppt/notesMasters/notesMaster1.xml" Id="Rf696b1f84f2649a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f1b1c6962434ac1" /><Relationship Type="http://schemas.openxmlformats.org/officeDocument/2006/relationships/notesMaster" Target="/ppt/notesMasters/notesMaster1.xml" Id="R584e9b5b83124a7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91d7f8ec0fb4060" /><Relationship Type="http://schemas.openxmlformats.org/officeDocument/2006/relationships/notesMaster" Target="/ppt/notesMasters/notesMaster1.xml" Id="R1a79b851215a444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ce6a3aae11444f1" /><Relationship Type="http://schemas.openxmlformats.org/officeDocument/2006/relationships/notesMaster" Target="/ppt/notesMasters/notesMaster1.xml" Id="Rbea33393676449a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f6f5ef1e0cb4d6b" /><Relationship Type="http://schemas.openxmlformats.org/officeDocument/2006/relationships/notesMaster" Target="/ppt/notesMasters/notesMaster1.xml" Id="Rd09079f218cf49a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b416432cd54456b" /><Relationship Type="http://schemas.openxmlformats.org/officeDocument/2006/relationships/notesMaster" Target="/ppt/notesMasters/notesMaster1.xml" Id="R779e5857d0c5469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a08bff5696748fa" /><Relationship Type="http://schemas.openxmlformats.org/officeDocument/2006/relationships/notesMaster" Target="/ppt/notesMasters/notesMaster1.xml" Id="R1a9fb1eff4ac470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8c88973336f4d31" /><Relationship Type="http://schemas.openxmlformats.org/officeDocument/2006/relationships/notesMaster" Target="/ppt/notesMasters/notesMaster1.xml" Id="R38384d7c6a7749a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250b87081884183" /><Relationship Type="http://schemas.openxmlformats.org/officeDocument/2006/relationships/notesMaster" Target="/ppt/notesMasters/notesMaster1.xml" Id="Re1db6b7471bd401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Самир. Слайд 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Здравствуйте. Наш проект называется «Учёт оборудования и аудиторий колледжа». Приложение помогает найти технику, подать заявку и записать выдачу или возврат. Ещё можно проверить наличие предметов в аудитории. Мы работали вдвоём. Я расскажу об интерфейсе и запуске, Артём объяснит устройство сервера и базы данных.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 проекта: https://github.com/Samirrrrr123/college-inventory</a:t>
            </a:r>
          </a:p>
          <a:p xmlns:a="http://schemas.openxmlformats.org/drawingml/2006/main">
            <a:r>
              <a:t>Скриншоты: работающий сайт https://85.8.201.148, 21.10.2026.</a:t>
            </a:r>
          </a:p>
          <a:p xmlns:a="http://schemas.openxmlformats.org/drawingml/2006/main">
            <a:r>
              <a:t>Вклад: PR 21 и 31 Артёма, PR 32 и 34 Самира.</a:t>
            </a:r>
          </a:p>
          <a:p xmlns:a="http://schemas.openxmlformats.org/drawingml/2006/main">
            <a:r>
              <a:t>Результаты тестов: docs/testing-report.md, CI PR 34.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Самир. Слайд 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У приложения три роли. Преподаватель ищет оборудование и отправляет заявку. Лаборант рассматривает заявки, выдаёт технику и принимает возвраты. Администратор управляет пользователями. Я занимался дизайном, основным интерфейсом и запуском, а также добавил часть серверных функций. Артём сделал API каталога и разделы истории. Подключение и проверки пересекались.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 проекта: https://github.com/Samirrrrr123/college-inventory</a:t>
            </a:r>
          </a:p>
          <a:p xmlns:a="http://schemas.openxmlformats.org/drawingml/2006/main">
            <a:r>
              <a:t>Скриншоты: работающий сайт https://85.8.201.148, 21.10.2026.</a:t>
            </a:r>
          </a:p>
          <a:p xmlns:a="http://schemas.openxmlformats.org/drawingml/2006/main">
            <a:r>
              <a:t>Вклад: PR 21 и 31 Артёма, PR 32 и 34 Самира.</a:t>
            </a:r>
          </a:p>
          <a:p xmlns:a="http://schemas.openxmlformats.org/drawingml/2006/main">
            <a:r>
              <a:t>Результаты тестов: docs/testing-report.md, CI PR 34.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Самир. Слайд 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Перед вёрсткой подготовили шесть основных экранов в Figma. В интерфейсе одинаковые кнопки, поля и таблицы. Добавили состояния загрузки, ошибки и пустые списки. Сайт работает на телефоне и компьютере. Тему и язык можно переключать, а выбор сохраняется в браузере. Здесь показана мобильная версия работающего сайта.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 проекта: https://github.com/Samirrrrr123/college-inventory</a:t>
            </a:r>
          </a:p>
          <a:p xmlns:a="http://schemas.openxmlformats.org/drawingml/2006/main">
            <a:r>
              <a:t>Скриншоты: работающий сайт https://85.8.201.148, 21.10.2026.</a:t>
            </a:r>
          </a:p>
          <a:p xmlns:a="http://schemas.openxmlformats.org/drawingml/2006/main">
            <a:r>
              <a:t>Вклад: PR 21 и 31 Артёма, PR 32 и 34 Самира.</a:t>
            </a:r>
          </a:p>
          <a:p xmlns:a="http://schemas.openxmlformats.org/drawingml/2006/main">
            <a:r>
              <a:t>Результаты тестов: docs/testing-report.md, CI PR 34.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Самир. Слайд 4.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Основной экран показывает каталог. Можно найти технику по названию, выбрать категорию или аудиторию. Поиск и деление на страницы выполняет сервер. Сотрудник добавляет и изменяет карточки, прикрепляет фотографию или PDF. Перед удалением появляется подтверждение. Экспорт скачивает весь найденный список с выбранными фильтрами, а не только текущую страницу.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 проекта: https://github.com/Samirrrrr123/college-inventory</a:t>
            </a:r>
          </a:p>
          <a:p xmlns:a="http://schemas.openxmlformats.org/drawingml/2006/main">
            <a:r>
              <a:t>Скриншоты: работающий сайт https://85.8.201.148, 21.10.2026.</a:t>
            </a:r>
          </a:p>
          <a:p xmlns:a="http://schemas.openxmlformats.org/drawingml/2006/main">
            <a:r>
              <a:t>Вклад: PR 21 и 31 Артёма, PR 32 и 34 Самира.</a:t>
            </a:r>
          </a:p>
          <a:p xmlns:a="http://schemas.openxmlformats.org/drawingml/2006/main">
            <a:r>
              <a:t>Результаты тестов: docs/testing-report.md, CI PR 34.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Самир. Слайд 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Проект размещён на VPS в UFO Hosting. На нём работают интерфейс, API и PostgreSQL. Docker Compose запускает их вместе, а Caddy обеспечивает HTTPS. Сайт открывается по публичной ссылке. Перед обновлением сохраняем копию базы. GitHub Actions проверяет код, тесты и сборку. Дальше Артём расскажет, как устроена серверная часть.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 проекта: https://github.com/Samirrrrr123/college-inventory</a:t>
            </a:r>
          </a:p>
          <a:p xmlns:a="http://schemas.openxmlformats.org/drawingml/2006/main">
            <a:r>
              <a:t>Скриншоты: работающий сайт https://85.8.201.148, 21.10.2026.</a:t>
            </a:r>
          </a:p>
          <a:p xmlns:a="http://schemas.openxmlformats.org/drawingml/2006/main">
            <a:r>
              <a:t>Вклад: PR 21 и 31 Артёма, PR 32 и 34 Самира.</a:t>
            </a:r>
          </a:p>
          <a:p xmlns:a="http://schemas.openxmlformats.org/drawingml/2006/main">
            <a:r>
              <a:t>Результаты тестов: docs/testing-report.md, CI PR 34.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Артём. Слайд 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Интерфейс отправляет запросы в REST API на Express. Контроллер принимает запрос, сервис проверяет правила, а репозиторий работает с базой через Prisma. При входе сервер выдаёт access и refresh JWT. Пароли хранятся в виде bcrypt-хешей. Права проверяет сервер. Поэтому скрытой кнопки недостаточно, чужие данные защищены и при прямом запросе.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 проекта: https://github.com/Samirrrrr123/college-inventory</a:t>
            </a:r>
          </a:p>
          <a:p xmlns:a="http://schemas.openxmlformats.org/drawingml/2006/main">
            <a:r>
              <a:t>Скриншоты: работающий сайт https://85.8.201.148, 21.10.2026.</a:t>
            </a:r>
          </a:p>
          <a:p xmlns:a="http://schemas.openxmlformats.org/drawingml/2006/main">
            <a:r>
              <a:t>Вклад: PR 21 и 31 Артёма, PR 32 и 34 Самира.</a:t>
            </a:r>
          </a:p>
          <a:p xmlns:a="http://schemas.openxmlformats.org/drawingml/2006/main">
            <a:r>
              <a:t>Результаты тестов: docs/testing-report.md, CI PR 34.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Артём. Слайд 7.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 PostgreSQL шестнадцать таблиц. Основные сущности: пользователь, роль, оборудование, категория, аудитория, заявка и выдача. Одна категория содержит много предметов. Заявка может включать несколько предметов, поэтому для состава есть отдельная таблица. Схема меняется через миграции. Тестовые данные добавляет seed. Моя часть включала каталог и связанные с ним таблицы.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 проекта: https://github.com/Samirrrrr123/college-inventory</a:t>
            </a:r>
          </a:p>
          <a:p xmlns:a="http://schemas.openxmlformats.org/drawingml/2006/main">
            <a:r>
              <a:t>Скриншоты: работающий сайт https://85.8.201.148, 21.10.2026.</a:t>
            </a:r>
          </a:p>
          <a:p xmlns:a="http://schemas.openxmlformats.org/drawingml/2006/main">
            <a:r>
              <a:t>Вклад: PR 21 и 31 Артёма, PR 32 и 34 Самира.</a:t>
            </a:r>
          </a:p>
          <a:p xmlns:a="http://schemas.openxmlformats.org/drawingml/2006/main">
            <a:r>
              <a:t>Результаты тестов: docs/testing-report.md, CI PR 34.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Артём. Слайд 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Преподаватель отправляет заявку на один или несколько предметов. Лаборант одобряет или отклоняет её. Одобрение ещё не занимает технику. Доступность проверяется в момент выдачи. Весь комплект сохраняется одной операцией: если один предмет недоступен, выдача не создаётся. При возврате техника снова становится доступной. Эту часть API добавил Самир при интеграции.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 проекта: https://github.com/Samirrrrr123/college-inventory</a:t>
            </a:r>
          </a:p>
          <a:p xmlns:a="http://schemas.openxmlformats.org/drawingml/2006/main">
            <a:r>
              <a:t>Скриншоты: работающий сайт https://85.8.201.148, 21.10.2026.</a:t>
            </a:r>
          </a:p>
          <a:p xmlns:a="http://schemas.openxmlformats.org/drawingml/2006/main">
            <a:r>
              <a:t>Вклад: PR 21 и 31 Артёма, PR 32 и 34 Самира.</a:t>
            </a:r>
          </a:p>
          <a:p xmlns:a="http://schemas.openxmlformats.org/drawingml/2006/main">
            <a:r>
              <a:t>Результаты тестов: docs/testing-report.md, CI PR 34.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Артём. Слайд 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 своей части я добавил перемещения и журнал аудита, включая API и экраны. Когда сотрудник меняет аудиторию предмета, в истории сохраняются старое и новое место, автор и дата. Администратор видит общий журнал действий. Для списков есть поиск, фильтры и страницы. Права доступа и поведение этих разделов проверены тестами.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 проекта: https://github.com/Samirrrrr123/college-inventory</a:t>
            </a:r>
          </a:p>
          <a:p xmlns:a="http://schemas.openxmlformats.org/drawingml/2006/main">
            <a:r>
              <a:t>Скриншоты: работающий сайт https://85.8.201.148, 21.10.2026.</a:t>
            </a:r>
          </a:p>
          <a:p xmlns:a="http://schemas.openxmlformats.org/drawingml/2006/main">
            <a:r>
              <a:t>Вклад: PR 21 и 31 Артёма, PR 32 и 34 Самира.</a:t>
            </a:r>
          </a:p>
          <a:p xmlns:a="http://schemas.openxmlformats.org/drawingml/2006/main">
            <a:r>
              <a:t>Результаты тестов: docs/testing-report.md, CI PR 34.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Артём. Слайд 10.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 полном прогоне прошли девяносто два серверных теста, пятьдесят тестов интерфейса и двадцать один браузерный сценарий с API. Покрытие строк сервисов составляет 97,3 процента при требовании 60. Проверяли роли, ошибки, выдачу и возврат, сохранение данных и экспорт. В результате получили работающее приложение с публичной ссылкой. Готовы показать его и ответить на вопросы.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Материалы проекта: https://github.com/Samirrrrr123/college-inventory</a:t>
            </a:r>
          </a:p>
          <a:p xmlns:a="http://schemas.openxmlformats.org/drawingml/2006/main">
            <a:r>
              <a:t>Скриншоты: работающий сайт https://85.8.201.148, 21.10.2026.</a:t>
            </a:r>
          </a:p>
          <a:p xmlns:a="http://schemas.openxmlformats.org/drawingml/2006/main">
            <a:r>
              <a:t>Вклад: PR 21 и 31 Артёма, PR 32 и 34 Самира.</a:t>
            </a:r>
          </a:p>
          <a:p xmlns:a="http://schemas.openxmlformats.org/drawingml/2006/main">
            <a:r>
              <a:t>Результаты тестов: docs/testing-report.md, CI PR 34.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4f09b4194a482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8bfc51957547e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76d6c5a4c24cb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b24ff97d53465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d62028bbf0427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d4287817b040e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E087B5A-69C0-42F7-9C1D-E8B7297A9D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028732E-EDB6-4478-BF48-CE52B4882FB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FFABF69-D859-469A-8F09-675DDE4D29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A7EB47F-86A0-4C60-AE3F-8A7377112D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2BFA598-5E74-4BA2-A0A6-88F3EA9AB23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5AD50AE-216E-43D2-BE6B-4198D6F043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07CF366-D2F6-4328-87E5-D578D2017A8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EC6BC74-5212-402A-8DCB-448D71E92D7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A719378-E778-4AC6-9DC0-4DCE9F4DDE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2252C5B-DD6D-4A85-92A7-AFCAC5A1DAA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d7389d2930e46cf" /><Relationship Type="http://schemas.openxmlformats.org/officeDocument/2006/relationships/slideLayout" Target="/ppt/slideLayouts/slideLayout1.xml" Id="R6d6033dddc5f4d8e" /><Relationship Type="http://schemas.openxmlformats.org/officeDocument/2006/relationships/slideLayout" Target="/ppt/slideLayouts/slideLayout2.xml" Id="R1db138bdc2614230" /><Relationship Type="http://schemas.openxmlformats.org/officeDocument/2006/relationships/slideLayout" Target="/ppt/slideLayouts/slideLayout3.xml" Id="R79966f58f9c64752" /><Relationship Type="http://schemas.openxmlformats.org/officeDocument/2006/relationships/slideLayout" Target="/ppt/slideLayouts/slideLayout4.xml" Id="Rec5fb0b02eeb4355" /><Relationship Type="http://schemas.openxmlformats.org/officeDocument/2006/relationships/slideLayout" Target="/ppt/slideLayouts/slideLayout5.xml" Id="R56a8a43c7ddd439d" /><Relationship Type="http://schemas.openxmlformats.org/officeDocument/2006/relationships/slideLayout" Target="/ppt/slideLayouts/slideLayout6.xml" Id="R6cbbe705f3274d8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d6033dddc5f4d8e"/>
    <p:sldLayoutId xmlns:r="http://schemas.openxmlformats.org/officeDocument/2006/relationships" id="2147483650" r:id="R1db138bdc2614230"/>
    <p:sldLayoutId xmlns:r="http://schemas.openxmlformats.org/officeDocument/2006/relationships" id="2147483651" r:id="R79966f58f9c64752"/>
    <p:sldLayoutId xmlns:r="http://schemas.openxmlformats.org/officeDocument/2006/relationships" id="2147483652" r:id="Rec5fb0b02eeb4355"/>
    <p:sldLayoutId xmlns:r="http://schemas.openxmlformats.org/officeDocument/2006/relationships" id="2147483653" r:id="R56a8a43c7ddd439d"/>
    <p:sldLayoutId xmlns:r="http://schemas.openxmlformats.org/officeDocument/2006/relationships" id="2147483654" r:id="R6cbbe705f3274d8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c357fa6c1e45fc" /><Relationship Type="http://schemas.openxmlformats.org/officeDocument/2006/relationships/notesSlide" Target="/ppt/notesSlides/notesSlide1.xml" Id="R26a18a2f7d8042c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1dc830d3d14f81" /><Relationship Type="http://schemas.openxmlformats.org/officeDocument/2006/relationships/image" Target="/ppt/media/image.png" Id="Ra55af77b7b734a9f" /><Relationship Type="http://schemas.openxmlformats.org/officeDocument/2006/relationships/notesSlide" Target="/ppt/notesSlides/notesSlide2.xml" Id="Rbd051d7596aa461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1198eea9884237" /><Relationship Type="http://schemas.openxmlformats.org/officeDocument/2006/relationships/image" Target="/ppt/media/image2.png" Id="Rfd815d5887644a46" /><Relationship Type="http://schemas.openxmlformats.org/officeDocument/2006/relationships/notesSlide" Target="/ppt/notesSlides/notesSlide3.xml" Id="Rf86823a089d44b9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1b8ffe16e64648" /><Relationship Type="http://schemas.openxmlformats.org/officeDocument/2006/relationships/image" Target="/ppt/media/image3.png" Id="R139e01e89e3a4036" /><Relationship Type="http://schemas.openxmlformats.org/officeDocument/2006/relationships/notesSlide" Target="/ppt/notesSlides/notesSlide4.xml" Id="R58a4d7b672694c5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0c9cca179d4264" /><Relationship Type="http://schemas.openxmlformats.org/officeDocument/2006/relationships/image" Target="/ppt/media/image4.png" Id="R677ab835283e4fbb" /><Relationship Type="http://schemas.openxmlformats.org/officeDocument/2006/relationships/notesSlide" Target="/ppt/notesSlides/notesSlide5.xml" Id="R362eac51d7d141e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308ed3a0b44bee" /><Relationship Type="http://schemas.openxmlformats.org/officeDocument/2006/relationships/notesSlide" Target="/ppt/notesSlides/notesSlide6.xml" Id="Rceddb51b9735446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93bf7f87794d67" /><Relationship Type="http://schemas.openxmlformats.org/officeDocument/2006/relationships/image" Target="/ppt/media/image5.png" Id="Rd91fd5fe7105485d" /><Relationship Type="http://schemas.openxmlformats.org/officeDocument/2006/relationships/notesSlide" Target="/ppt/notesSlides/notesSlide7.xml" Id="Rc921232982ba4cf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f4bc9919734d42" /><Relationship Type="http://schemas.openxmlformats.org/officeDocument/2006/relationships/image" Target="/ppt/media/image6.png" Id="Rf5fc5b8ca3444d4a" /><Relationship Type="http://schemas.openxmlformats.org/officeDocument/2006/relationships/notesSlide" Target="/ppt/notesSlides/notesSlide8.xml" Id="R8b9bc36894a5458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6efa58fc564e4b" /><Relationship Type="http://schemas.openxmlformats.org/officeDocument/2006/relationships/image" Target="/ppt/media/image7.png" Id="R15721367b62f4067" /><Relationship Type="http://schemas.openxmlformats.org/officeDocument/2006/relationships/notesSlide" Target="/ppt/notesSlides/notesSlide9.xml" Id="Rf982a5f6d07a4b7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4b337daa6f4952" /><Relationship Type="http://schemas.openxmlformats.org/officeDocument/2006/relationships/hyperlink" Target="https://85.8.201.148/login" TargetMode="External" Id="R4d19baa92cbc43c8" /><Relationship Type="http://schemas.openxmlformats.org/officeDocument/2006/relationships/hyperlink" Target="https://github.com/Samirrrrr123/college-inventory" TargetMode="External" Id="Ra4834a30df324976" /><Relationship Type="http://schemas.openxmlformats.org/officeDocument/2006/relationships/notesSlide" Target="/ppt/notesSlides/notesSlide10.xml" Id="Rc25f5995703244e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4F82F1-EB5F-4CE5-97A9-222B8168B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1047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35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defPPr>
            <a:lvl1pPr>
              <a:defRPr sz="435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1pPr>
            <a:lvl2pPr>
              <a:defRPr sz="435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2pPr>
            <a:lvl3pPr>
              <a:defRPr sz="435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3pPr>
            <a:lvl4pPr>
              <a:defRPr sz="435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4pPr>
            <a:lvl5pPr>
              <a:defRPr sz="435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5pPr>
            <a:lvl6pPr>
              <a:defRPr sz="435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6pPr>
            <a:lvl7pPr>
              <a:defRPr sz="435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7pPr>
            <a:lvl8pPr>
              <a:defRPr sz="435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8pPr>
            <a:lvl9pPr>
              <a:defRPr sz="435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35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355E4C"/>
                </a:solidFill>
                <a:latin typeface="Arial"/>
                <a:ea typeface="Arial"/>
                <a:cs typeface="Arial"/>
              </a:rPr>
              <a:t>Учёт оборудования и аудиторий колледжа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54D126-2F48-4E6E-AAB4-3791BB8E6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100012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Учебная практика</a:t>
            </a:r>
          </a:p>
          <a:p xmlns:a="http://schemas.openxmlformats.org/drawingml/2006/main">
            <a:pPr>
              <a:defRPr sz="22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Командный проект Самира и Артёма</a:t>
            </a:r>
          </a:p>
          <a:p xmlns:a="http://schemas.openxmlformats.org/drawingml/2006/main">
            <a:pPr>
              <a:defRPr sz="22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Приложение «Инвентарь»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F88333-6FE0-45A9-A7F3-4BABABBCF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85D"/>
                </a:solidFill>
                <a:latin typeface="Arial"/>
                <a:ea typeface="Arial"/>
                <a:cs typeface="Arial"/>
              </a:rPr>
              <a:t>1 / 10   Самир</a:t>
            </a:r>
          </a:p>
        </p:txBody>
      </p:sp>
    </p:spTree>
    <p:extLst>
      <p:ext uri="{BB962C8B-B14F-4D97-AF65-F5344CB8AC3E}">
        <p14:creationId xmlns:p14="http://schemas.microsoft.com/office/powerpoint/2010/main" val="19976193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F07486-D749-4AA9-98AD-7B31F4497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55E4C"/>
                </a:solidFill>
                <a:latin typeface="Arial"/>
                <a:ea typeface="Arial"/>
                <a:cs typeface="Arial"/>
              </a:rPr>
              <a:t>Задача и участники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C0DCED-577F-4094-9672-5728672E1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4048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Преподаватель подаёт заявки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754E24-AB42-4836-9D12-517AD8486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048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Лаборант ведёт технику и выдачи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67E02E-6C3A-47C0-8518-A591CDDBB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48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Администратор управляет доступом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6CBB64-8C72-4A8B-A160-91DFAA654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4048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Самир: интерфейс и запуск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A18E64-F228-40DB-B2A2-342EB2E53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4048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Артём: каталог API и история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CDE4BF-CEFB-4F2A-8123-E4032C330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4048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Подключение и проверки выполняли вместе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934D8C-A847-419C-B86A-0719E03752F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5af77b7b734a9f"/>
          <a:stretch xmlns:a="http://schemas.openxmlformats.org/drawingml/2006/main"/>
        </p:blipFill>
        <p:spPr>
          <a:xfrm xmlns:a="http://schemas.openxmlformats.org/drawingml/2006/main">
            <a:off x="5049393" y="1438275"/>
            <a:ext cx="6569964" cy="4562475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F33A5A-813E-4CB7-81B9-D8C3B8868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85D"/>
                </a:solidFill>
                <a:latin typeface="Arial"/>
                <a:ea typeface="Arial"/>
                <a:cs typeface="Arial"/>
              </a:rPr>
              <a:t>2 / 10   Самир</a:t>
            </a:r>
          </a:p>
        </p:txBody>
      </p:sp>
    </p:spTree>
    <p:extLst>
      <p:ext uri="{BB962C8B-B14F-4D97-AF65-F5344CB8AC3E}">
        <p14:creationId xmlns:p14="http://schemas.microsoft.com/office/powerpoint/2010/main" val="86174820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3E1EDD-23AF-4CD7-8476-562FA39F3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55E4C"/>
                </a:solidFill>
                <a:latin typeface="Arial"/>
                <a:ea typeface="Arial"/>
                <a:cs typeface="Arial"/>
              </a:rPr>
              <a:t>Макеты и мобильная версия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4358CA-B95F-4827-9F77-E425EA753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4048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Шесть основных экранов в Figma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D76739-E4E5-4BC3-9C76-4F16DBA9D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4048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Светлая и тёмная темы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882E07-CA21-4740-A80E-6AD123E56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4048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Русский и английский языки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9BDAC7-5587-461F-B492-648982268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4048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Ширина от 360 до 1920 пикселей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73524D-45D3-4E92-98F7-11DBD61257E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815d5887644a46"/>
          <a:stretch xmlns:a="http://schemas.openxmlformats.org/drawingml/2006/main"/>
        </p:blipFill>
        <p:spPr>
          <a:xfrm xmlns:a="http://schemas.openxmlformats.org/drawingml/2006/main">
            <a:off x="7715250" y="1287951"/>
            <a:ext cx="2238375" cy="4844073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059AEF-8C69-44B5-A8A9-0FDD01A6F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85D"/>
                </a:solidFill>
                <a:latin typeface="Arial"/>
                <a:ea typeface="Arial"/>
                <a:cs typeface="Arial"/>
              </a:rPr>
              <a:t>3 / 10   Самир</a:t>
            </a:r>
          </a:p>
        </p:txBody>
      </p:sp>
    </p:spTree>
    <p:extLst>
      <p:ext uri="{BB962C8B-B14F-4D97-AF65-F5344CB8AC3E}">
        <p14:creationId xmlns:p14="http://schemas.microsoft.com/office/powerpoint/2010/main" val="122314524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8E116C-2F84-4AD8-872B-7C50064C1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55E4C"/>
                </a:solidFill>
                <a:latin typeface="Arial"/>
                <a:ea typeface="Arial"/>
                <a:cs typeface="Arial"/>
              </a:rPr>
              <a:t>Каталог оборудования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0B9CB2-5296-4C7F-B994-2BC847D7A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4048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Поиск, фильтры и страницы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F02D91-76A8-4A1E-991E-4907971B8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4048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Создание и изменение записей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A79ABC-E284-44B4-A099-880724279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4048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Подтверждение удаления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C667D6-9A9A-42C0-B703-727413825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4048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Фотографии и документы до 5 МБ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5EBA24-C065-4ED8-801A-8BCC343DB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4048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Экспорт списка в XLSX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26549A-3CB2-42F4-A970-2E354D6ED08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9e01e89e3a4036"/>
          <a:stretch xmlns:a="http://schemas.openxmlformats.org/drawingml/2006/main"/>
        </p:blipFill>
        <p:spPr>
          <a:xfrm xmlns:a="http://schemas.openxmlformats.org/drawingml/2006/main">
            <a:off x="5049393" y="1438275"/>
            <a:ext cx="6569964" cy="45624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EFE2D8-D131-4BE5-ADAC-3051F7004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85D"/>
                </a:solidFill>
                <a:latin typeface="Arial"/>
                <a:ea typeface="Arial"/>
                <a:cs typeface="Arial"/>
              </a:rPr>
              <a:t>4 / 10   Самир</a:t>
            </a:r>
          </a:p>
        </p:txBody>
      </p:sp>
    </p:spTree>
    <p:extLst>
      <p:ext uri="{BB962C8B-B14F-4D97-AF65-F5344CB8AC3E}">
        <p14:creationId xmlns:p14="http://schemas.microsoft.com/office/powerpoint/2010/main" val="155653179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1FFF16-FBCA-4B0B-BB60-9AE85256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55E4C"/>
                </a:solidFill>
                <a:latin typeface="Arial"/>
                <a:ea typeface="Arial"/>
                <a:cs typeface="Arial"/>
              </a:rPr>
              <a:t>Запуск на сервере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91EA2A-12F4-4550-9D33-D0D171E1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4048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VPS на UFO Hosting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A0F3B8-B26C-454D-99A1-70204B48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4048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Ubuntu, 2 vCPU, 2 ГБ RAM, 40 ГБ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76F94E-165F-44BE-9EBF-E1A326A92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4048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Docker Compose запускает приложение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EB78A7-8FAD-443C-9FDA-E43697C60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4048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Caddy обеспечивает HTTPS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BED08F-7C13-43C7-88BB-F278F542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4048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GitHub Actions проверяет изменения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445CB5-E5B8-48BD-A065-ED01961C0EE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7ab835283e4fbb"/>
          <a:stretch xmlns:a="http://schemas.openxmlformats.org/drawingml/2006/main"/>
        </p:blipFill>
        <p:spPr>
          <a:xfrm xmlns:a="http://schemas.openxmlformats.org/drawingml/2006/main">
            <a:off x="5049393" y="1438275"/>
            <a:ext cx="6569964" cy="45624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EACD7E-20A8-4C9E-AC15-EAC243317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85D"/>
                </a:solidFill>
                <a:latin typeface="Arial"/>
                <a:ea typeface="Arial"/>
                <a:cs typeface="Arial"/>
              </a:rPr>
              <a:t>5 / 10   Самир</a:t>
            </a:r>
          </a:p>
        </p:txBody>
      </p:sp>
    </p:spTree>
    <p:extLst>
      <p:ext uri="{BB962C8B-B14F-4D97-AF65-F5344CB8AC3E}">
        <p14:creationId xmlns:p14="http://schemas.microsoft.com/office/powerpoint/2010/main" val="23667896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7678E3-8987-4970-964C-019E94995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55E4C"/>
                </a:solidFill>
                <a:latin typeface="Arial"/>
                <a:ea typeface="Arial"/>
                <a:cs typeface="Arial"/>
              </a:rPr>
              <a:t>Сервер и вход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3ED70D-BE34-44D3-B5BB-20369698C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382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React и TypeScript в браузере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365760-D4D0-48AB-A281-44D4311F1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10382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Express принимает REST-запросы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CE49C6-C6F7-49F0-A3BD-1B47FC302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10382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Сервисы проверяют правила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E744DE-356B-412E-AC27-2056C22FB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10382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Prisma обращается к PostgreSQL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5FFB7B-BD2B-4FE9-986F-1701679E8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0382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JWT для входа, bcrypt для паролей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1F21C2-1BF6-4D97-AE18-4404CE64B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85D"/>
                </a:solidFill>
                <a:latin typeface="Arial"/>
                <a:ea typeface="Arial"/>
                <a:cs typeface="Arial"/>
              </a:rPr>
              <a:t>6 / 10   Артём</a:t>
            </a:r>
          </a:p>
        </p:txBody>
      </p:sp>
    </p:spTree>
    <p:extLst>
      <p:ext uri="{BB962C8B-B14F-4D97-AF65-F5344CB8AC3E}">
        <p14:creationId xmlns:p14="http://schemas.microsoft.com/office/powerpoint/2010/main" val="154056475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3DD45B-8777-4148-BD63-F30E37806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55E4C"/>
                </a:solidFill>
                <a:latin typeface="Arial"/>
                <a:ea typeface="Arial"/>
                <a:cs typeface="Arial"/>
              </a:rPr>
              <a:t>База данных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59FCE9-D61D-4BED-BFFD-DB1B24E9C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4048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PostgreSQL, 16 таблиц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2CD4F4-2FCE-421A-950B-50D6C89C3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4048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Пользователи и роли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6FE256-3971-4DF6-B26A-2FCBB3CBA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4048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Оборудование, категории и аудитории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DDD127-4A17-4806-A0D3-471E4516E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4048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Заявки и выдачи с несколькими предметами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BE01E2-9111-47AB-84A2-AF2112A2A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4048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Миграции и тестовые данные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ACA95B-4D80-49FD-B09A-4A533467F66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1fd5fe7105485d"/>
          <a:stretch xmlns:a="http://schemas.openxmlformats.org/drawingml/2006/main"/>
        </p:blipFill>
        <p:spPr>
          <a:xfrm xmlns:a="http://schemas.openxmlformats.org/drawingml/2006/main">
            <a:off x="5049393" y="1438275"/>
            <a:ext cx="6569964" cy="45624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A48DDC-3F75-4715-A0BD-92B6741A2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85D"/>
                </a:solidFill>
                <a:latin typeface="Arial"/>
                <a:ea typeface="Arial"/>
                <a:cs typeface="Arial"/>
              </a:rPr>
              <a:t>7 / 10   Артём</a:t>
            </a:r>
          </a:p>
        </p:txBody>
      </p:sp>
    </p:spTree>
    <p:extLst>
      <p:ext uri="{BB962C8B-B14F-4D97-AF65-F5344CB8AC3E}">
        <p14:creationId xmlns:p14="http://schemas.microsoft.com/office/powerpoint/2010/main" val="181031743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EC3D80-564B-4A86-BFF6-879086049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55E4C"/>
                </a:solidFill>
                <a:latin typeface="Arial"/>
                <a:ea typeface="Arial"/>
                <a:cs typeface="Arial"/>
              </a:rPr>
              <a:t>Заявки и выдачи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09887A-AF98-4742-9033-81CC15B6B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4048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Преподаватель выбирает от 1 до 20 предметов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50DCE9-7A0F-4E64-911A-D939F2984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4048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Лаборант принимает решение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61FF35-298B-43AA-A610-E62DCB6E1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4048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При выдаче проверяется доступность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CC53D5-1EEA-4265-8454-2F61976FC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4048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Комплект сохраняется целиком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36D865-241A-4D6E-AB43-8F5B3C4F1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4048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Возврат освобождает оборудование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9E8A6E-392E-4503-AD54-F80F3D47E92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fc5b8ca3444d4a"/>
          <a:stretch xmlns:a="http://schemas.openxmlformats.org/drawingml/2006/main"/>
        </p:blipFill>
        <p:spPr>
          <a:xfrm xmlns:a="http://schemas.openxmlformats.org/drawingml/2006/main">
            <a:off x="5049393" y="1438275"/>
            <a:ext cx="6569964" cy="45624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CF6440-15A8-4A94-BF2B-3F435D6A2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85D"/>
                </a:solidFill>
                <a:latin typeface="Arial"/>
                <a:ea typeface="Arial"/>
                <a:cs typeface="Arial"/>
              </a:rPr>
              <a:t>8 / 10   Артём</a:t>
            </a:r>
          </a:p>
        </p:txBody>
      </p:sp>
    </p:spTree>
    <p:extLst>
      <p:ext uri="{BB962C8B-B14F-4D97-AF65-F5344CB8AC3E}">
        <p14:creationId xmlns:p14="http://schemas.microsoft.com/office/powerpoint/2010/main" val="10985610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1BF0FA-D27F-49D8-8F54-1069A0CDA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55E4C"/>
                </a:solidFill>
                <a:latin typeface="Arial"/>
                <a:ea typeface="Arial"/>
                <a:cs typeface="Arial"/>
              </a:rPr>
              <a:t>Перемещения и журнал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7F67B0-84CC-4B9B-A124-AF06EC0A3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4048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Смена аудитории сохраняет перемещение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D71FA1-AD5F-4B2C-9153-15CCADE74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4048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В записи есть автор и дата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1DDE26-FF95-4FE2-8E2A-E7D932AA7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4048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Журнал аудита доступен администратору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035D1A-F09F-48C3-A568-A08682AF2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4048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Поиск и фильтры работают на сервере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966389-7390-4A9B-9377-D73A85871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4048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Данные сохраняются после перезагрузки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0568AA-9FE8-476A-A009-1C8052099BF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721367b62f4067"/>
          <a:stretch xmlns:a="http://schemas.openxmlformats.org/drawingml/2006/main"/>
        </p:blipFill>
        <p:spPr>
          <a:xfrm xmlns:a="http://schemas.openxmlformats.org/drawingml/2006/main">
            <a:off x="5049393" y="1438275"/>
            <a:ext cx="6569964" cy="45624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35F4AF-E934-4F66-9DF6-98C7DD372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85D"/>
                </a:solidFill>
                <a:latin typeface="Arial"/>
                <a:ea typeface="Arial"/>
                <a:cs typeface="Arial"/>
              </a:rPr>
              <a:t>9 / 10   Артём</a:t>
            </a:r>
          </a:p>
        </p:txBody>
      </p:sp>
    </p:spTree>
    <p:extLst>
      <p:ext uri="{BB962C8B-B14F-4D97-AF65-F5344CB8AC3E}">
        <p14:creationId xmlns:p14="http://schemas.microsoft.com/office/powerpoint/2010/main" val="50618647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838069-D326-4D7F-BA47-EBEA43FD6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55E4C"/>
                </a:solidFill>
                <a:latin typeface="Arial"/>
                <a:ea typeface="Arial"/>
                <a:cs typeface="Arial"/>
              </a:rPr>
              <a:t>Проверки и результат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9099B6-2D4D-4672-A4A5-88A5476F4CF4}"/>
              </a:ext>
            </a:extLst>
          </p:cNvPr>
          <p:cNvGraphicFramePr/>
          <p:nvPr/>
        </p:nvGraphicFramePr>
        <p:xfrm>
          <a:off xmlns:a="http://schemas.openxmlformats.org/drawingml/2006/main" x="666750" y="1543050"/>
          <a:ext xmlns:a="http://schemas.openxmlformats.org/drawingml/2006/main" cx="10668000" cy="3124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858000"/>
                <a:gridCol w="3810000"/>
              </a:tblGrid>
              <a:tr h="624840">
                <a:tc>
                  <a:txBody>
                    <a:bodyPr lIns="114300" tIns="114300" rIns="114300" bIns="114300"/>
                    <a:lstStyle/>
                    <a:p>
                      <a:r>
                        <a:rPr sz="2100" b="1">
                          <a:solidFill>
                            <a:srgbClr val="1B3028"/>
                          </a:solidFill>
                          <a:latin typeface="Arial"/>
                          <a:ea typeface="Arial"/>
                          <a:cs typeface="Arial"/>
                        </a:rPr>
                        <a:t>Проверка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9E1D6"/>
                      </a:solidFill>
                      <a:prstDash val="solid"/>
                    </a:lnL>
                    <a:lnR w="9525">
                      <a:solidFill>
                        <a:srgbClr val="D9E1D6"/>
                      </a:solidFill>
                      <a:prstDash val="solid"/>
                    </a:lnR>
                    <a:lnT w="9525">
                      <a:solidFill>
                        <a:srgbClr val="D9E1D6"/>
                      </a:solidFill>
                      <a:prstDash val="solid"/>
                    </a:lnT>
                    <a:lnB w="9525">
                      <a:solidFill>
                        <a:srgbClr val="D9E1D6"/>
                      </a:solidFill>
                      <a:prstDash val="soli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2100" b="1">
                          <a:solidFill>
                            <a:srgbClr val="1B3028"/>
                          </a:solidFill>
                          <a:latin typeface="Arial"/>
                          <a:ea typeface="Arial"/>
                          <a:cs typeface="Arial"/>
                        </a:rPr>
                        <a:t>Результат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9E1D6"/>
                      </a:solidFill>
                      <a:prstDash val="solid"/>
                    </a:lnR>
                    <a:lnT w="9525">
                      <a:solidFill>
                        <a:srgbClr val="D9E1D6"/>
                      </a:solidFill>
                      <a:prstDash val="solid"/>
                    </a:lnT>
                    <a:lnB w="9525">
                      <a:solidFill>
                        <a:srgbClr val="D9E1D6"/>
                      </a:solidFill>
                      <a:prstDash val="solid"/>
                    </a:lnB>
                    <a:solidFill>
                      <a:srgbClr val="EEF3EC"/>
                    </a:solidFill>
                  </a:tcPr>
                </a:tc>
              </a:tr>
              <a:tr h="624840">
                <a:tc>
                  <a:txBody>
                    <a:bodyPr lIns="114300" tIns="114300" rIns="114300" bIns="114300"/>
                    <a:lstStyle/>
                    <a:p>
                      <a:r>
                        <a:rPr sz="2100" b="0">
                          <a:solidFill>
                            <a:srgbClr val="1B3028"/>
                          </a:solidFill>
                          <a:latin typeface="Arial"/>
                          <a:ea typeface="Arial"/>
                          <a:cs typeface="Arial"/>
                        </a:rPr>
                        <a:t>Серверные тесты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9E1D6"/>
                      </a:solidFill>
                      <a:prstDash val="solid"/>
                    </a:lnL>
                    <a:lnR w="9525">
                      <a:solidFill>
                        <a:srgbClr val="D9E1D6"/>
                      </a:solidFill>
                      <a:prstDash val="solid"/>
                    </a:lnR>
                    <a:lnB w="9525">
                      <a:solidFill>
                        <a:srgbClr val="D9E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2100" b="0">
                          <a:solidFill>
                            <a:srgbClr val="1B3028"/>
                          </a:solidFill>
                          <a:latin typeface="Arial"/>
                          <a:ea typeface="Arial"/>
                          <a:cs typeface="Arial"/>
                        </a:rPr>
                        <a:t>92 прошли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9E1D6"/>
                      </a:solidFill>
                      <a:prstDash val="solid"/>
                    </a:lnR>
                    <a:lnB w="9525">
                      <a:solidFill>
                        <a:srgbClr val="D9E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4840">
                <a:tc>
                  <a:txBody>
                    <a:bodyPr lIns="114300" tIns="114300" rIns="114300" bIns="114300"/>
                    <a:lstStyle/>
                    <a:p>
                      <a:r>
                        <a:rPr sz="2100" b="0">
                          <a:solidFill>
                            <a:srgbClr val="1B3028"/>
                          </a:solidFill>
                          <a:latin typeface="Arial"/>
                          <a:ea typeface="Arial"/>
                          <a:cs typeface="Arial"/>
                        </a:rPr>
                        <a:t>Тесты интерфейса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9E1D6"/>
                      </a:solidFill>
                      <a:prstDash val="solid"/>
                    </a:lnL>
                    <a:lnR w="9525">
                      <a:solidFill>
                        <a:srgbClr val="D9E1D6"/>
                      </a:solidFill>
                      <a:prstDash val="solid"/>
                    </a:lnR>
                    <a:lnB w="9525">
                      <a:solidFill>
                        <a:srgbClr val="D9E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2100" b="0">
                          <a:solidFill>
                            <a:srgbClr val="1B3028"/>
                          </a:solidFill>
                          <a:latin typeface="Arial"/>
                          <a:ea typeface="Arial"/>
                          <a:cs typeface="Arial"/>
                        </a:rPr>
                        <a:t>50 прошли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9E1D6"/>
                      </a:solidFill>
                      <a:prstDash val="solid"/>
                    </a:lnR>
                    <a:lnB w="9525">
                      <a:solidFill>
                        <a:srgbClr val="D9E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4840">
                <a:tc>
                  <a:txBody>
                    <a:bodyPr lIns="114300" tIns="114300" rIns="114300" bIns="114300"/>
                    <a:lstStyle/>
                    <a:p>
                      <a:r>
                        <a:rPr sz="2100" b="0">
                          <a:solidFill>
                            <a:srgbClr val="1B3028"/>
                          </a:solidFill>
                          <a:latin typeface="Arial"/>
                          <a:ea typeface="Arial"/>
                          <a:cs typeface="Arial"/>
                        </a:rPr>
                        <a:t>Браузерные сценарии с API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9E1D6"/>
                      </a:solidFill>
                      <a:prstDash val="solid"/>
                    </a:lnL>
                    <a:lnR w="9525">
                      <a:solidFill>
                        <a:srgbClr val="D9E1D6"/>
                      </a:solidFill>
                      <a:prstDash val="solid"/>
                    </a:lnR>
                    <a:lnB w="9525">
                      <a:solidFill>
                        <a:srgbClr val="D9E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2100" b="0">
                          <a:solidFill>
                            <a:srgbClr val="1B3028"/>
                          </a:solidFill>
                          <a:latin typeface="Arial"/>
                          <a:ea typeface="Arial"/>
                          <a:cs typeface="Arial"/>
                        </a:rPr>
                        <a:t>21 прошёл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9E1D6"/>
                      </a:solidFill>
                      <a:prstDash val="solid"/>
                    </a:lnR>
                    <a:lnB w="9525">
                      <a:solidFill>
                        <a:srgbClr val="D9E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4840">
                <a:tc>
                  <a:txBody>
                    <a:bodyPr lIns="114300" tIns="114300" rIns="114300" bIns="114300"/>
                    <a:lstStyle/>
                    <a:p>
                      <a:r>
                        <a:rPr sz="2100" b="0">
                          <a:solidFill>
                            <a:srgbClr val="1B3028"/>
                          </a:solidFill>
                          <a:latin typeface="Arial"/>
                          <a:ea typeface="Arial"/>
                          <a:cs typeface="Arial"/>
                        </a:rPr>
                        <a:t>Покрытие строк сервисов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9E1D6"/>
                      </a:solidFill>
                      <a:prstDash val="solid"/>
                    </a:lnL>
                    <a:lnR w="9525">
                      <a:solidFill>
                        <a:srgbClr val="D9E1D6"/>
                      </a:solidFill>
                      <a:prstDash val="solid"/>
                    </a:lnR>
                    <a:lnB w="9525">
                      <a:solidFill>
                        <a:srgbClr val="D9E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2100" b="0">
                          <a:solidFill>
                            <a:srgbClr val="1B3028"/>
                          </a:solidFill>
                          <a:latin typeface="Arial"/>
                          <a:ea typeface="Arial"/>
                          <a:cs typeface="Arial"/>
                        </a:rPr>
                        <a:t>97,3%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9E1D6"/>
                      </a:solidFill>
                      <a:prstDash val="solid"/>
                    </a:lnR>
                    <a:lnB w="9525">
                      <a:solidFill>
                        <a:srgbClr val="D9E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6F9DC7-373F-4280-9939-B2D86E2C5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Сайт: </a:t>
            </a:r>
            <a:r>
              <a:rPr sz="1875" b="0">
                <a:solidFill>
                  <a:srgbClr val="1B3028"/>
                </a:solidFill>
                <a:latin typeface="Arial"/>
                <a:ea typeface="Arial"/>
                <a:cs typeface="Arial"/>
                <a:hlinkClick xmlns:r="http://schemas.openxmlformats.org/officeDocument/2006/relationships" r:id="R4d19baa92cbc43c8"/>
              </a:rPr>
              <a:t>https://85.8.201.148/login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A3C302-8B6A-471D-82F2-D78AA7F6C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9117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1875" b="0">
                <a:solidFill>
                  <a:srgbClr val="1B3028"/>
                </a:solidFill>
                <a:latin typeface="Arial"/>
                <a:ea typeface="Arial"/>
                <a:cs typeface="Arial"/>
                <a:hlinkClick xmlns:r="http://schemas.openxmlformats.org/officeDocument/2006/relationships" r:id="Ra4834a30df324976"/>
              </a:rPr>
              <a:t>Samirrrrr123/college-inventory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3F12D7-CDA0-4BFF-8F6B-FD4D88DFC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85D"/>
                </a:solidFill>
                <a:latin typeface="Arial"/>
                <a:ea typeface="Arial"/>
                <a:cs typeface="Arial"/>
              </a:rPr>
              <a:t>10 / 10   Артём</a:t>
            </a:r>
          </a:p>
        </p:txBody>
      </p:sp>
    </p:spTree>
    <p:extLst>
      <p:ext uri="{BB962C8B-B14F-4D97-AF65-F5344CB8AC3E}">
        <p14:creationId xmlns:p14="http://schemas.microsoft.com/office/powerpoint/2010/main" val="2423311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2026-10-21T20:54:20.6510000Z</dcterms:created>
  <dcterms:modified xsi:type="dcterms:W3CDTF">2026-10-21T20:54:20.6520000Z</dcterms:modified>
</coreProperties>
</file>