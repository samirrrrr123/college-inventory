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26d0e8f0f94bdf" /><Relationship Type="http://schemas.openxmlformats.org/officeDocument/2006/relationships/extended-properties" Target="/docProps/app.xml" Id="Re6e68cfb8c324ea6" /><Relationship Type="http://schemas.openxmlformats.org/officeDocument/2006/relationships/officeDocument" Target="/ppt/presentation.xml" Id="Rc7b44e34f9fe40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5cbfa6be8447fe"/>
  </p:sldMasterIdLst>
  <p:notesMasterIdLst>
    <p:notesMasterId xmlns:r="http://schemas.openxmlformats.org/officeDocument/2006/relationships" r:id="Rdae8a680023042fd"/>
  </p:notesMasterIdLst>
  <p:sldIdLst>
    <p:sldId xmlns:r="http://schemas.openxmlformats.org/officeDocument/2006/relationships" id="256" r:id="R8d030d4a3bbe4f3f"/>
    <p:sldId xmlns:r="http://schemas.openxmlformats.org/officeDocument/2006/relationships" id="257" r:id="R6acfb19f687448ae"/>
    <p:sldId xmlns:r="http://schemas.openxmlformats.org/officeDocument/2006/relationships" id="258" r:id="R110016286881442f"/>
    <p:sldId xmlns:r="http://schemas.openxmlformats.org/officeDocument/2006/relationships" id="259" r:id="R71ca9f09cc3f41ea"/>
    <p:sldId xmlns:r="http://schemas.openxmlformats.org/officeDocument/2006/relationships" id="260" r:id="R363f72bea75f47d4"/>
    <p:sldId xmlns:r="http://schemas.openxmlformats.org/officeDocument/2006/relationships" id="261" r:id="Ree879fca39c140be"/>
    <p:sldId xmlns:r="http://schemas.openxmlformats.org/officeDocument/2006/relationships" id="262" r:id="R2482cb69c4d94fce"/>
    <p:sldId xmlns:r="http://schemas.openxmlformats.org/officeDocument/2006/relationships" id="263" r:id="R3697711b50d54a41"/>
    <p:sldId xmlns:r="http://schemas.openxmlformats.org/officeDocument/2006/relationships" id="264" r:id="R3eefa9877de542e8"/>
    <p:sldId xmlns:r="http://schemas.openxmlformats.org/officeDocument/2006/relationships" id="265" r:id="Rb8c1bb581cde49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137ba95fd14b33" /><Relationship Type="http://schemas.openxmlformats.org/officeDocument/2006/relationships/slideMaster" Target="/ppt/slideMasters/slideMaster1.xml" Id="Rdd5cbfa6be8447fe" /><Relationship Type="http://schemas.openxmlformats.org/officeDocument/2006/relationships/notesMaster" Target="/ppt/notesMasters/notesMaster1.xml" Id="Rdae8a680023042fd" /><Relationship Type="http://schemas.openxmlformats.org/officeDocument/2006/relationships/presProps" Target="/ppt/presProps.xml" Id="R39b53baafc334649" /><Relationship Type="http://schemas.openxmlformats.org/officeDocument/2006/relationships/tableStyles" Target="/ppt/tableStyles.xml" Id="R127143c0ce8240ea" /><Relationship Type="http://schemas.openxmlformats.org/officeDocument/2006/relationships/slide" Target="/ppt/slides/slide1.xml" Id="R8d030d4a3bbe4f3f" /><Relationship Type="http://schemas.openxmlformats.org/officeDocument/2006/relationships/slide" Target="/ppt/slides/slide2.xml" Id="R6acfb19f687448ae" /><Relationship Type="http://schemas.openxmlformats.org/officeDocument/2006/relationships/slide" Target="/ppt/slides/slide3.xml" Id="R110016286881442f" /><Relationship Type="http://schemas.openxmlformats.org/officeDocument/2006/relationships/slide" Target="/ppt/slides/slide4.xml" Id="R71ca9f09cc3f41ea" /><Relationship Type="http://schemas.openxmlformats.org/officeDocument/2006/relationships/slide" Target="/ppt/slides/slide5.xml" Id="R363f72bea75f47d4" /><Relationship Type="http://schemas.openxmlformats.org/officeDocument/2006/relationships/slide" Target="/ppt/slides/slide6.xml" Id="Ree879fca39c140be" /><Relationship Type="http://schemas.openxmlformats.org/officeDocument/2006/relationships/slide" Target="/ppt/slides/slide7.xml" Id="R2482cb69c4d94fce" /><Relationship Type="http://schemas.openxmlformats.org/officeDocument/2006/relationships/slide" Target="/ppt/slides/slide8.xml" Id="R3697711b50d54a41" /><Relationship Type="http://schemas.openxmlformats.org/officeDocument/2006/relationships/slide" Target="/ppt/slides/slide9.xml" Id="R3eefa9877de542e8" /><Relationship Type="http://schemas.openxmlformats.org/officeDocument/2006/relationships/slide" Target="/ppt/slides/slide10.xml" Id="Rb8c1bb581cde49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6fe0c0c6db43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4b0b03860945e0" /><Relationship Type="http://schemas.openxmlformats.org/officeDocument/2006/relationships/notesMaster" Target="/ppt/notesMasters/notesMaster1.xml" Id="Re0c1cf1a9ad94f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13e039b115489a" /><Relationship Type="http://schemas.openxmlformats.org/officeDocument/2006/relationships/notesMaster" Target="/ppt/notesMasters/notesMaster1.xml" Id="R3a7335eee6d34c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a45f31391f4161" /><Relationship Type="http://schemas.openxmlformats.org/officeDocument/2006/relationships/notesMaster" Target="/ppt/notesMasters/notesMaster1.xml" Id="R4c2b6eb6415041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68a248131e4d27" /><Relationship Type="http://schemas.openxmlformats.org/officeDocument/2006/relationships/notesMaster" Target="/ppt/notesMasters/notesMaster1.xml" Id="R0d67be5e84cb43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ac80f8dc1543b0" /><Relationship Type="http://schemas.openxmlformats.org/officeDocument/2006/relationships/notesMaster" Target="/ppt/notesMasters/notesMaster1.xml" Id="R86f33816702e48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d99fb74bcd49de" /><Relationship Type="http://schemas.openxmlformats.org/officeDocument/2006/relationships/notesMaster" Target="/ppt/notesMasters/notesMaster1.xml" Id="Re86968f0fd284a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fbf0e4f1144b66" /><Relationship Type="http://schemas.openxmlformats.org/officeDocument/2006/relationships/notesMaster" Target="/ppt/notesMasters/notesMaster1.xml" Id="R3df5d44b495a4b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4b0470cb0b48a6" /><Relationship Type="http://schemas.openxmlformats.org/officeDocument/2006/relationships/notesMaster" Target="/ppt/notesMasters/notesMaster1.xml" Id="Rf8a263e9cb9c4c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e277df50754369" /><Relationship Type="http://schemas.openxmlformats.org/officeDocument/2006/relationships/notesMaster" Target="/ppt/notesMasters/notesMaster1.xml" Id="R36773fe982ca47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0124c928404980" /><Relationship Type="http://schemas.openxmlformats.org/officeDocument/2006/relationships/notesMaster" Target="/ppt/notesMasters/notesMaster1.xml" Id="Rcb6b41c5a3334e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проекта: https://github.com/Samirrrrr123/college-inventory</a:t>
            </a:r>
          </a:p>
          <a:p xmlns:a="http://schemas.openxmlformats.org/drawingml/2006/main">
            <a:r>
              <a:t>Скриншоты интерфейса и проверка VPS: 22.10.2026.</a:t>
            </a:r>
          </a:p>
          <a:p xmlns:a="http://schemas.openxmlformats.org/drawingml/2006/main">
            <a:r>
              <a:t>Первоначальные зоны ответственности: Самир — frontend и размещение, Артём — backend и БД. Интеграция совместная, фактические изменения сохранены в Git.</a:t>
            </a:r>
          </a:p>
          <a:p xmlns:a="http://schemas.openxmlformats.org/drawingml/2006/main">
            <a:r>
              <a:t>Результаты тестов: docs/testing-report.md, CI PR 34.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проекта: https://github.com/Samirrrrr123/college-inventory</a:t>
            </a:r>
          </a:p>
          <a:p xmlns:a="http://schemas.openxmlformats.org/drawingml/2006/main">
            <a:r>
              <a:t>Скриншоты интерфейса и проверка VPS: 22.10.2026.</a:t>
            </a:r>
          </a:p>
          <a:p xmlns:a="http://schemas.openxmlformats.org/drawingml/2006/main">
            <a:r>
              <a:t>Первоначальные зоны ответственности: Самир — frontend и размещение, Артём — backend и БД. Интеграция совместная, фактические изменения сохранены в Git.</a:t>
            </a:r>
          </a:p>
          <a:p xmlns:a="http://schemas.openxmlformats.org/drawingml/2006/main">
            <a:r>
              <a:t>Результаты тестов: docs/testing-report.md, CI PR 34.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проекта: https://github.com/Samirrrrr123/college-inventory</a:t>
            </a:r>
          </a:p>
          <a:p xmlns:a="http://schemas.openxmlformats.org/drawingml/2006/main">
            <a:r>
              <a:t>Скриншоты интерфейса и проверка VPS: 22.10.2026.</a:t>
            </a:r>
          </a:p>
          <a:p xmlns:a="http://schemas.openxmlformats.org/drawingml/2006/main">
            <a:r>
              <a:t>Первоначальные зоны ответственности: Самир — frontend и размещение, Артём — backend и БД. Интеграция совместная, фактические изменения сохранены в Git.</a:t>
            </a:r>
          </a:p>
          <a:p xmlns:a="http://schemas.openxmlformats.org/drawingml/2006/main">
            <a:r>
              <a:t>Результаты тестов: docs/testing-report.md, CI PR 34.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проекта: https://github.com/Samirrrrr123/college-inventory</a:t>
            </a:r>
          </a:p>
          <a:p xmlns:a="http://schemas.openxmlformats.org/drawingml/2006/main">
            <a:r>
              <a:t>Скриншоты интерфейса и проверка VPS: 22.10.2026.</a:t>
            </a:r>
          </a:p>
          <a:p xmlns:a="http://schemas.openxmlformats.org/drawingml/2006/main">
            <a:r>
              <a:t>Первоначальные зоны ответственности: Самир — frontend и размещение, Артём — backend и БД. Интеграция совместная, фактические изменения сохранены в Git.</a:t>
            </a:r>
          </a:p>
          <a:p xmlns:a="http://schemas.openxmlformats.org/drawingml/2006/main">
            <a:r>
              <a:t>Результаты тестов: docs/testing-report.md, CI PR 34.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проекта: https://github.com/Samirrrrr123/college-inventory</a:t>
            </a:r>
          </a:p>
          <a:p xmlns:a="http://schemas.openxmlformats.org/drawingml/2006/main">
            <a:r>
              <a:t>Скриншоты интерфейса и проверка VPS: 22.10.2026.</a:t>
            </a:r>
          </a:p>
          <a:p xmlns:a="http://schemas.openxmlformats.org/drawingml/2006/main">
            <a:r>
              <a:t>Первоначальные зоны ответственности: Самир — frontend и размещение, Артём — backend и БД. Интеграция совместная, фактические изменения сохранены в Git.</a:t>
            </a:r>
          </a:p>
          <a:p xmlns:a="http://schemas.openxmlformats.org/drawingml/2006/main">
            <a:r>
              <a:t>Результаты тестов: docs/testing-report.md, CI PR 34.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проекта: https://github.com/Samirrrrr123/college-inventory</a:t>
            </a:r>
          </a:p>
          <a:p xmlns:a="http://schemas.openxmlformats.org/drawingml/2006/main">
            <a:r>
              <a:t>Скриншоты интерфейса и проверка VPS: 22.10.2026.</a:t>
            </a:r>
          </a:p>
          <a:p xmlns:a="http://schemas.openxmlformats.org/drawingml/2006/main">
            <a:r>
              <a:t>Первоначальные зоны ответственности: Самир — frontend и размещение, Артём — backend и БД. Интеграция совместная, фактические изменения сохранены в Git.</a:t>
            </a:r>
          </a:p>
          <a:p xmlns:a="http://schemas.openxmlformats.org/drawingml/2006/main">
            <a:r>
              <a:t>Результаты тестов: docs/testing-report.md, CI PR 34.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проекта: https://github.com/Samirrrrr123/college-inventory</a:t>
            </a:r>
          </a:p>
          <a:p xmlns:a="http://schemas.openxmlformats.org/drawingml/2006/main">
            <a:r>
              <a:t>Скриншоты интерфейса и проверка VPS: 22.10.2026.</a:t>
            </a:r>
          </a:p>
          <a:p xmlns:a="http://schemas.openxmlformats.org/drawingml/2006/main">
            <a:r>
              <a:t>Первоначальные зоны ответственности: Самир — frontend и размещение, Артём — backend и БД. Интеграция совместная, фактические изменения сохранены в Git.</a:t>
            </a:r>
          </a:p>
          <a:p xmlns:a="http://schemas.openxmlformats.org/drawingml/2006/main">
            <a:r>
              <a:t>Результаты тестов: docs/testing-report.md, CI PR 34.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проекта: https://github.com/Samirrrrr123/college-inventory</a:t>
            </a:r>
          </a:p>
          <a:p xmlns:a="http://schemas.openxmlformats.org/drawingml/2006/main">
            <a:r>
              <a:t>Скриншоты интерфейса и проверка VPS: 22.10.2026.</a:t>
            </a:r>
          </a:p>
          <a:p xmlns:a="http://schemas.openxmlformats.org/drawingml/2006/main">
            <a:r>
              <a:t>Первоначальные зоны ответственности: Самир — frontend и размещение, Артём — backend и БД. Интеграция совместная, фактические изменения сохранены в Git.</a:t>
            </a:r>
          </a:p>
          <a:p xmlns:a="http://schemas.openxmlformats.org/drawingml/2006/main">
            <a:r>
              <a:t>Результаты тестов: docs/testing-report.md, CI PR 34.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проекта: https://github.com/Samirrrrr123/college-inventory</a:t>
            </a:r>
          </a:p>
          <a:p xmlns:a="http://schemas.openxmlformats.org/drawingml/2006/main">
            <a:r>
              <a:t>Скриншоты интерфейса и проверка VPS: 22.10.2026.</a:t>
            </a:r>
          </a:p>
          <a:p xmlns:a="http://schemas.openxmlformats.org/drawingml/2006/main">
            <a:r>
              <a:t>Первоначальные зоны ответственности: Самир — frontend и размещение, Артём — backend и БД. Интеграция совместная, фактические изменения сохранены в Git.</a:t>
            </a:r>
          </a:p>
          <a:p xmlns:a="http://schemas.openxmlformats.org/drawingml/2006/main">
            <a:r>
              <a:t>Результаты тестов: docs/testing-report.md, CI PR 34.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проекта: https://github.com/Samirrrrr123/college-inventory</a:t>
            </a:r>
          </a:p>
          <a:p xmlns:a="http://schemas.openxmlformats.org/drawingml/2006/main">
            <a:r>
              <a:t>Скриншоты интерфейса и проверка VPS: 22.10.2026.</a:t>
            </a:r>
          </a:p>
          <a:p xmlns:a="http://schemas.openxmlformats.org/drawingml/2006/main">
            <a:r>
              <a:t>Первоначальные зоны ответственности: Самир — frontend и размещение, Артём — backend и БД. Интеграция совместная, фактические изменения сохранены в Git.</a:t>
            </a:r>
          </a:p>
          <a:p xmlns:a="http://schemas.openxmlformats.org/drawingml/2006/main">
            <a:r>
              <a:t>Результаты тестов: docs/testing-report.md, CI PR 34.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5b4be410f2429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8918f80d834c2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940531d0824b3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2eec1c0f5743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4e3df50e274fa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20970b47e44d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16E3B5-7BDB-4336-880A-B39D75B377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E726BE8-42B9-429D-B405-657DE219780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9154102-CC34-4746-8FBB-4F92219E79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7C8771-40D3-41CD-AAB5-82C5F5E348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33609E2-1F1E-429E-AA82-49FB55E809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CF17303-AF8B-4033-95C4-C0B36A8171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D66F79-43B0-4EA7-B461-39D5BEB215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B9E4031-7EBD-4E0E-A917-3AC00201519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CD51F2-982C-487D-AAA5-4959B56FB1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D73F9B-0126-4EF1-8D78-915DA796C2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b73b3917b5496e" /><Relationship Type="http://schemas.openxmlformats.org/officeDocument/2006/relationships/slideLayout" Target="/ppt/slideLayouts/slideLayout1.xml" Id="R8aa71702010341e6" /><Relationship Type="http://schemas.openxmlformats.org/officeDocument/2006/relationships/slideLayout" Target="/ppt/slideLayouts/slideLayout2.xml" Id="Rf07e659285fb45d8" /><Relationship Type="http://schemas.openxmlformats.org/officeDocument/2006/relationships/slideLayout" Target="/ppt/slideLayouts/slideLayout3.xml" Id="R1811e3a9a26f4ddb" /><Relationship Type="http://schemas.openxmlformats.org/officeDocument/2006/relationships/slideLayout" Target="/ppt/slideLayouts/slideLayout4.xml" Id="R4efb014ec8154442" /><Relationship Type="http://schemas.openxmlformats.org/officeDocument/2006/relationships/slideLayout" Target="/ppt/slideLayouts/slideLayout5.xml" Id="R925477ae893c4f51" /><Relationship Type="http://schemas.openxmlformats.org/officeDocument/2006/relationships/slideLayout" Target="/ppt/slideLayouts/slideLayout6.xml" Id="R56a422d651ae49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a71702010341e6"/>
    <p:sldLayoutId xmlns:r="http://schemas.openxmlformats.org/officeDocument/2006/relationships" id="2147483650" r:id="Rf07e659285fb45d8"/>
    <p:sldLayoutId xmlns:r="http://schemas.openxmlformats.org/officeDocument/2006/relationships" id="2147483651" r:id="R1811e3a9a26f4ddb"/>
    <p:sldLayoutId xmlns:r="http://schemas.openxmlformats.org/officeDocument/2006/relationships" id="2147483652" r:id="R4efb014ec8154442"/>
    <p:sldLayoutId xmlns:r="http://schemas.openxmlformats.org/officeDocument/2006/relationships" id="2147483653" r:id="R925477ae893c4f51"/>
    <p:sldLayoutId xmlns:r="http://schemas.openxmlformats.org/officeDocument/2006/relationships" id="2147483654" r:id="R56a422d651ae49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2cb93504924849" /><Relationship Type="http://schemas.openxmlformats.org/officeDocument/2006/relationships/notesSlide" Target="/ppt/notesSlides/notesSlide1.xml" Id="Rb0a2326ba28641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0ac2038aae4469" /><Relationship Type="http://schemas.openxmlformats.org/officeDocument/2006/relationships/image" Target="/ppt/media/image.png" Id="R845049199d894512" /><Relationship Type="http://schemas.openxmlformats.org/officeDocument/2006/relationships/notesSlide" Target="/ppt/notesSlides/notesSlide2.xml" Id="Rcac0ae04ab3145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26027f26bd4d24" /><Relationship Type="http://schemas.openxmlformats.org/officeDocument/2006/relationships/image" Target="/ppt/media/image2.png" Id="R2c159c15f1394109" /><Relationship Type="http://schemas.openxmlformats.org/officeDocument/2006/relationships/notesSlide" Target="/ppt/notesSlides/notesSlide3.xml" Id="Rada2c2350ec348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f80e2c18964cf8" /><Relationship Type="http://schemas.openxmlformats.org/officeDocument/2006/relationships/image" Target="/ppt/media/image3.png" Id="Rad361146c22240e0" /><Relationship Type="http://schemas.openxmlformats.org/officeDocument/2006/relationships/notesSlide" Target="/ppt/notesSlides/notesSlide4.xml" Id="Rc57e8eb986f94c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ef46c252784362" /><Relationship Type="http://schemas.openxmlformats.org/officeDocument/2006/relationships/image" Target="/ppt/media/image4.png" Id="Rd75f1d9acf09438b" /><Relationship Type="http://schemas.openxmlformats.org/officeDocument/2006/relationships/notesSlide" Target="/ppt/notesSlides/notesSlide5.xml" Id="Rbe75be29e86844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5e500bf66b4c75" /><Relationship Type="http://schemas.openxmlformats.org/officeDocument/2006/relationships/notesSlide" Target="/ppt/notesSlides/notesSlide6.xml" Id="R89c66110e8e949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6006428fca49c5" /><Relationship Type="http://schemas.openxmlformats.org/officeDocument/2006/relationships/image" Target="/ppt/media/image5.png" Id="R8dbf191aa0e44bd2" /><Relationship Type="http://schemas.openxmlformats.org/officeDocument/2006/relationships/notesSlide" Target="/ppt/notesSlides/notesSlide7.xml" Id="R04fe2fe6412b43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5af2506c184c4d" /><Relationship Type="http://schemas.openxmlformats.org/officeDocument/2006/relationships/image" Target="/ppt/media/image6.png" Id="R0de4e8be4fc6418e" /><Relationship Type="http://schemas.openxmlformats.org/officeDocument/2006/relationships/notesSlide" Target="/ppt/notesSlides/notesSlide8.xml" Id="Rfc1a42ae0ccc4c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7f2c32c6fb4f7c" /><Relationship Type="http://schemas.openxmlformats.org/officeDocument/2006/relationships/image" Target="/ppt/media/image7.png" Id="Re939ff761e2245ca" /><Relationship Type="http://schemas.openxmlformats.org/officeDocument/2006/relationships/notesSlide" Target="/ppt/notesSlides/notesSlide9.xml" Id="R180c780132d342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1cf1b58262480d" /><Relationship Type="http://schemas.openxmlformats.org/officeDocument/2006/relationships/hyperlink" Target="https://85.8.201.148/login" TargetMode="External" Id="R2aa8d27ac5e546f7" /><Relationship Type="http://schemas.openxmlformats.org/officeDocument/2006/relationships/hyperlink" Target="https://github.com/Samirrrrr123/college-inventory" TargetMode="External" Id="R362bad722c624b0e" /><Relationship Type="http://schemas.openxmlformats.org/officeDocument/2006/relationships/notesSlide" Target="/ppt/notesSlides/notesSlide10.xml" Id="R8716c2810b7842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C41F0-B85C-4A6E-8D6B-51DEEE9B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defPPr>
            <a:lvl1pPr>
              <a:defRPr sz="435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355E4C"/>
                </a:solidFill>
                <a:latin typeface="Arial"/>
                <a:ea typeface="Arial"/>
                <a:cs typeface="Arial"/>
              </a:rPr>
              <a:t>Учёт оборудования и аудиторий колледжа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DFE38-B0C5-4DA0-9196-4FB6180C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10001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IThub, группа 4p1.23</a:t>
            </a:r>
          </a:p>
          <a:p xmlns:a="http://schemas.openxmlformats.org/drawingml/2006/main">
            <a:pPr>
              <a:defRPr sz="22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Ясинов Самир Парвизович</a:t>
            </a:r>
          </a:p>
          <a:p xmlns:a="http://schemas.openxmlformats.org/drawingml/2006/main">
            <a:pPr>
              <a:defRPr sz="22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Николаиди Артём Георгиевич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39866-2A80-4C72-981A-4D173D90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85D"/>
                </a:solidFill>
                <a:latin typeface="Arial"/>
                <a:ea typeface="Arial"/>
                <a:cs typeface="Arial"/>
              </a:rPr>
              <a:t>1 / 10   Самир</a:t>
            </a:r>
          </a:p>
        </p:txBody>
      </p:sp>
    </p:spTree>
    <p:extLst>
      <p:ext uri="{BB962C8B-B14F-4D97-AF65-F5344CB8AC3E}">
        <p14:creationId xmlns:p14="http://schemas.microsoft.com/office/powerpoint/2010/main" val="15287585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8A3BC-C94E-477F-8C43-254B4B54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55E4C"/>
                </a:solidFill>
                <a:latin typeface="Arial"/>
                <a:ea typeface="Arial"/>
                <a:cs typeface="Arial"/>
              </a:rPr>
              <a:t>Задача и участники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8543F8-A221-417F-AB03-D6DE69A7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Преподаватель подаёт заявки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F203C-1E54-4A0B-A167-64361E26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Лаборант ведёт технику и выдачи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C8BD2-077E-4022-B4C7-854216A8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Администратор управляет доступом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7F6F7-951A-4C1A-A1BB-F7D19371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План: Самир — frontend и запуск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73B39-019C-4C9F-9C43-B1906A44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План: Артём — backend и БД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2B422-2608-444B-8C20-8C4854D5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Совместная интеграция и проверки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A3432E-69B8-4F5B-8F95-05DE988F0D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5049199d894512"/>
          <a:stretch xmlns:a="http://schemas.openxmlformats.org/drawingml/2006/main"/>
        </p:blipFill>
        <p:spPr>
          <a:xfrm xmlns:a="http://schemas.openxmlformats.org/drawingml/2006/main">
            <a:off x="4429125" y="1810477"/>
            <a:ext cx="7143750" cy="399904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04FCE3-1D38-45EB-AF23-8AF64054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85D"/>
                </a:solidFill>
                <a:latin typeface="Arial"/>
                <a:ea typeface="Arial"/>
                <a:cs typeface="Arial"/>
              </a:rPr>
              <a:t>2 / 10   Самир</a:t>
            </a:r>
          </a:p>
        </p:txBody>
      </p:sp>
    </p:spTree>
    <p:extLst>
      <p:ext uri="{BB962C8B-B14F-4D97-AF65-F5344CB8AC3E}">
        <p14:creationId xmlns:p14="http://schemas.microsoft.com/office/powerpoint/2010/main" val="14471627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69F5A-66DC-43CE-AFC3-665BC24B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55E4C"/>
                </a:solidFill>
                <a:latin typeface="Arial"/>
                <a:ea typeface="Arial"/>
                <a:cs typeface="Arial"/>
              </a:rPr>
              <a:t>Макеты и мобильная версия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0B33A-460D-48AB-B70E-C716A87A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Шесть основных экранов в Figma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9BFB6-385C-4AFE-9F66-3AD74C8E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Светлая и тёмная темы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E0DFC-EB7B-4BBD-BEEC-30F7E16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Русский и английский языки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3BA44-6AF1-49DC-803D-3A8875F1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Ширина от 360 до 1920 пикселей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08381-BA3C-40F0-911B-C6AA1A310B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59c15f1394109"/>
          <a:stretch xmlns:a="http://schemas.openxmlformats.org/drawingml/2006/main"/>
        </p:blipFill>
        <p:spPr>
          <a:xfrm xmlns:a="http://schemas.openxmlformats.org/drawingml/2006/main">
            <a:off x="6096000" y="1476375"/>
            <a:ext cx="3714750" cy="457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22E19-B88D-4C41-806F-3402EBA4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85D"/>
                </a:solidFill>
                <a:latin typeface="Arial"/>
                <a:ea typeface="Arial"/>
                <a:cs typeface="Arial"/>
              </a:rPr>
              <a:t>3 / 10   Самир</a:t>
            </a:r>
          </a:p>
        </p:txBody>
      </p:sp>
    </p:spTree>
    <p:extLst>
      <p:ext uri="{BB962C8B-B14F-4D97-AF65-F5344CB8AC3E}">
        <p14:creationId xmlns:p14="http://schemas.microsoft.com/office/powerpoint/2010/main" val="2658885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8C30F-2E05-4009-9C49-8EA5D1D9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55E4C"/>
                </a:solidFill>
                <a:latin typeface="Arial"/>
                <a:ea typeface="Arial"/>
                <a:cs typeface="Arial"/>
              </a:rPr>
              <a:t>Каталог оборудования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5F96A-A86C-427E-B724-59E3828A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Поиск, фильтры и страницы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33E52-0FAB-48A7-BCC1-A4B963B6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Создание и изменение записей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0073A-3945-4A3B-B6CC-6294BB97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Подтверждение удаления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D04D0-F467-462A-A7CD-5E9D176D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Фотографии и документы до 5 МБ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0DA38-B5BA-42C5-A4F5-AE358285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Экспорт списка в XLSX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7327A-3FF0-4F52-9816-F0D301B47B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361146c22240e0"/>
          <a:stretch xmlns:a="http://schemas.openxmlformats.org/drawingml/2006/main"/>
        </p:blipFill>
        <p:spPr>
          <a:xfrm xmlns:a="http://schemas.openxmlformats.org/drawingml/2006/main">
            <a:off x="4429125" y="1829137"/>
            <a:ext cx="7143750" cy="3961726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3992E-0616-4A73-B5D6-21A51E6B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85D"/>
                </a:solidFill>
                <a:latin typeface="Arial"/>
                <a:ea typeface="Arial"/>
                <a:cs typeface="Arial"/>
              </a:rPr>
              <a:t>4 / 10   Самир</a:t>
            </a:r>
          </a:p>
        </p:txBody>
      </p:sp>
    </p:spTree>
    <p:extLst>
      <p:ext uri="{BB962C8B-B14F-4D97-AF65-F5344CB8AC3E}">
        <p14:creationId xmlns:p14="http://schemas.microsoft.com/office/powerpoint/2010/main" val="17259964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EC6E90-0333-43ED-B1E4-7A1FCA12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55E4C"/>
                </a:solidFill>
                <a:latin typeface="Arial"/>
                <a:ea typeface="Arial"/>
                <a:cs typeface="Arial"/>
              </a:rPr>
              <a:t>Запуск на сервере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F079E-1B4C-4CCC-9E33-87DDB93C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VPS на UFO Hosting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45810-DD1A-49BB-9F77-7B3498C5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Ubuntu, 2 vCPU, 2 ГБ RAM, 40 ГБ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85162-7A50-44C3-B3B0-C3DC0993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Docker Compose запускает приложение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7463F-6E8B-40F3-B089-801F37DA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Caddy обеспечивает HTTPS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22FC5-F5A6-4D90-BE12-F9A87821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GitHub Actions проверяет изменения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B9246-D5EB-4110-8FE4-BADDAE49B2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5f1d9acf09438b"/>
          <a:stretch xmlns:a="http://schemas.openxmlformats.org/drawingml/2006/main"/>
        </p:blipFill>
        <p:spPr>
          <a:xfrm xmlns:a="http://schemas.openxmlformats.org/drawingml/2006/main">
            <a:off x="4429125" y="1454082"/>
            <a:ext cx="7143750" cy="471183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F8637-083B-4203-9E86-9DD6944C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85D"/>
                </a:solidFill>
                <a:latin typeface="Arial"/>
                <a:ea typeface="Arial"/>
                <a:cs typeface="Arial"/>
              </a:rPr>
              <a:t>5 / 10   Самир</a:t>
            </a:r>
          </a:p>
        </p:txBody>
      </p:sp>
    </p:spTree>
    <p:extLst>
      <p:ext uri="{BB962C8B-B14F-4D97-AF65-F5344CB8AC3E}">
        <p14:creationId xmlns:p14="http://schemas.microsoft.com/office/powerpoint/2010/main" val="3266111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00118-E816-434F-B07E-6A2315AC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55E4C"/>
                </a:solidFill>
                <a:latin typeface="Arial"/>
                <a:ea typeface="Arial"/>
                <a:cs typeface="Arial"/>
              </a:rPr>
              <a:t>Сервер и вход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6A55D-B877-4142-943E-EBB66468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React и TypeScript в браузере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27744-D079-48BF-BF0D-37BE4AFD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Express принимает REST-запросы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91193-3F71-4FD1-9F73-991ED9C2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Сервисы проверяют правила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2F1E8-C07E-4124-AB4E-004F7FC8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Prisma обращается к PostgreSQL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3F78C-804C-4A46-985E-9D4CD277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JWT для входа, bcrypt для паролей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23093-C557-48D0-AABD-6A37E336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85D"/>
                </a:solidFill>
                <a:latin typeface="Arial"/>
                <a:ea typeface="Arial"/>
                <a:cs typeface="Arial"/>
              </a:rPr>
              <a:t>6 / 10   Артём</a:t>
            </a:r>
          </a:p>
        </p:txBody>
      </p:sp>
    </p:spTree>
    <p:extLst>
      <p:ext uri="{BB962C8B-B14F-4D97-AF65-F5344CB8AC3E}">
        <p14:creationId xmlns:p14="http://schemas.microsoft.com/office/powerpoint/2010/main" val="4172134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125D5-617A-4984-99B2-EB9ECD4A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55E4C"/>
                </a:solidFill>
                <a:latin typeface="Arial"/>
                <a:ea typeface="Arial"/>
                <a:cs typeface="Arial"/>
              </a:rPr>
              <a:t>База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F51CE-56CD-45A4-B43E-9DDCFEB1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PostgreSQL, 16 таблиц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7C7524-04B4-4EA7-BE85-F37068AA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Пользователи и роли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B42D0-C9FE-4E03-B800-86056653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Оборудование, категории и аудитории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F12C3-E5CB-4679-AEF3-EF7C843B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Заявки и выдачи с несколькими предметами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03C3A-0DAE-454A-8F3F-2A9B4F5E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Миграции и тестовые данные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B3950-D70A-42DF-9202-C0517FFED6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bf191aa0e44bd2"/>
          <a:stretch xmlns:a="http://schemas.openxmlformats.org/drawingml/2006/main"/>
        </p:blipFill>
        <p:spPr>
          <a:xfrm xmlns:a="http://schemas.openxmlformats.org/drawingml/2006/main">
            <a:off x="4429125" y="1386604"/>
            <a:ext cx="7143750" cy="4846792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A1041-6892-4992-91DE-D107CD42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85D"/>
                </a:solidFill>
                <a:latin typeface="Arial"/>
                <a:ea typeface="Arial"/>
                <a:cs typeface="Arial"/>
              </a:rPr>
              <a:t>7 / 10   Артём</a:t>
            </a:r>
          </a:p>
        </p:txBody>
      </p:sp>
    </p:spTree>
    <p:extLst>
      <p:ext uri="{BB962C8B-B14F-4D97-AF65-F5344CB8AC3E}">
        <p14:creationId xmlns:p14="http://schemas.microsoft.com/office/powerpoint/2010/main" val="4781184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F5EE7-17DE-44A9-806E-A21F2592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55E4C"/>
                </a:solidFill>
                <a:latin typeface="Arial"/>
                <a:ea typeface="Arial"/>
                <a:cs typeface="Arial"/>
              </a:rPr>
              <a:t>Заявки и выдачи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B96FC-E2A0-4452-9433-865CE580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Преподаватель выбирает от 1 до 20 предметов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E0BDA-FC92-4C12-9B84-2BB6DD6C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Лаборант принимает решение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4371F-E5F2-4967-AD10-57D77246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При выдаче проверяется доступность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F93E1-75D9-4D90-B89E-116922CC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Комплект сохраняется целиком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6B2F6-025B-4EF9-9D66-E913F6DB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Возврат освобождает оборудование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8563C-670A-4E3B-A0D2-5361BBBFFE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4e8be4fc6418e"/>
          <a:stretch xmlns:a="http://schemas.openxmlformats.org/drawingml/2006/main"/>
        </p:blipFill>
        <p:spPr>
          <a:xfrm xmlns:a="http://schemas.openxmlformats.org/drawingml/2006/main">
            <a:off x="4429125" y="2580968"/>
            <a:ext cx="7143750" cy="245806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8BD44-D5F7-45DE-AF66-06687B24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85D"/>
                </a:solidFill>
                <a:latin typeface="Arial"/>
                <a:ea typeface="Arial"/>
                <a:cs typeface="Arial"/>
              </a:rPr>
              <a:t>8 / 10   Артём</a:t>
            </a:r>
          </a:p>
        </p:txBody>
      </p:sp>
    </p:spTree>
    <p:extLst>
      <p:ext uri="{BB962C8B-B14F-4D97-AF65-F5344CB8AC3E}">
        <p14:creationId xmlns:p14="http://schemas.microsoft.com/office/powerpoint/2010/main" val="2657042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9DAB0-78AA-42A3-B72D-45ABD44C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55E4C"/>
                </a:solidFill>
                <a:latin typeface="Arial"/>
                <a:ea typeface="Arial"/>
                <a:cs typeface="Arial"/>
              </a:rPr>
              <a:t>Перемещения и журнал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E26AA-FAA9-46A9-BEAC-47DB96D3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Смена аудитории сохраняет перемещение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172DD-B8CF-48E3-BE19-C3844F60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В записи есть автор и дата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12563-E9A3-47C2-AD23-4D908654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Журнал аудита доступен администратору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06C06-886B-4391-930C-3B9129B6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Поиск и фильтры работают на сервере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A6DA8-AAD6-421A-A766-37151610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Данные сохраняются после перезагрузки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3214D2-D73F-4C52-9C2A-CD74100105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39ff761e2245ca"/>
          <a:stretch xmlns:a="http://schemas.openxmlformats.org/drawingml/2006/main"/>
        </p:blipFill>
        <p:spPr>
          <a:xfrm xmlns:a="http://schemas.openxmlformats.org/drawingml/2006/main">
            <a:off x="4465638" y="1381125"/>
            <a:ext cx="7070725" cy="4857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49455-7862-44CD-B908-0E626C60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85D"/>
                </a:solidFill>
                <a:latin typeface="Arial"/>
                <a:ea typeface="Arial"/>
                <a:cs typeface="Arial"/>
              </a:rPr>
              <a:t>9 / 10   Артём</a:t>
            </a:r>
          </a:p>
        </p:txBody>
      </p:sp>
    </p:spTree>
    <p:extLst>
      <p:ext uri="{BB962C8B-B14F-4D97-AF65-F5344CB8AC3E}">
        <p14:creationId xmlns:p14="http://schemas.microsoft.com/office/powerpoint/2010/main" val="7560185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8BF10-9D9A-4C87-AF9B-68909B7E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355E4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55E4C"/>
                </a:solidFill>
                <a:latin typeface="Arial"/>
                <a:ea typeface="Arial"/>
                <a:cs typeface="Arial"/>
              </a:rPr>
              <a:t>Проверки и результат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786C0-9884-4170-8255-4819D2AA4CE1}"/>
              </a:ext>
            </a:extLst>
          </p:cNvPr>
          <p:cNvGraphicFramePr/>
          <p:nvPr/>
        </p:nvGraphicFramePr>
        <p:xfrm>
          <a:off xmlns:a="http://schemas.openxmlformats.org/drawingml/2006/main" x="666750" y="1543050"/>
          <a:ext xmlns:a="http://schemas.openxmlformats.org/drawingml/2006/main" cx="106680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858000"/>
                <a:gridCol w="3810000"/>
              </a:tblGrid>
              <a:tr h="624840">
                <a:tc>
                  <a:txBody>
                    <a:bodyPr lIns="114300" tIns="114300" rIns="114300" bIns="114300"/>
                    <a:lstStyle/>
                    <a:p>
                      <a:r>
                        <a:rPr sz="2100" b="1">
                          <a:solidFill>
                            <a:srgbClr val="1B3028"/>
                          </a:solidFill>
                          <a:latin typeface="Arial"/>
                          <a:ea typeface="Arial"/>
                          <a:cs typeface="Arial"/>
                        </a:rPr>
                        <a:t>Проверка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D6"/>
                      </a:solidFill>
                      <a:prstDash val="solid"/>
                    </a:lnL>
                    <a:lnR w="9525">
                      <a:solidFill>
                        <a:srgbClr val="D9E1D6"/>
                      </a:solidFill>
                      <a:prstDash val="solid"/>
                    </a:lnR>
                    <a:lnT w="9525">
                      <a:solidFill>
                        <a:srgbClr val="D9E1D6"/>
                      </a:solidFill>
                      <a:prstDash val="solid"/>
                    </a:lnT>
                    <a:lnB w="9525">
                      <a:solidFill>
                        <a:srgbClr val="D9E1D6"/>
                      </a:solidFill>
                      <a:prstDash val="soli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00" b="1">
                          <a:solidFill>
                            <a:srgbClr val="1B3028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D6"/>
                      </a:solidFill>
                      <a:prstDash val="solid"/>
                    </a:lnR>
                    <a:lnT w="9525">
                      <a:solidFill>
                        <a:srgbClr val="D9E1D6"/>
                      </a:solidFill>
                      <a:prstDash val="solid"/>
                    </a:lnT>
                    <a:lnB w="9525">
                      <a:solidFill>
                        <a:srgbClr val="D9E1D6"/>
                      </a:solidFill>
                      <a:prstDash val="solid"/>
                    </a:lnB>
                    <a:solidFill>
                      <a:srgbClr val="EEF3EC"/>
                    </a:solidFill>
                  </a:tcPr>
                </a:tc>
              </a:tr>
              <a:tr h="624840">
                <a:tc>
                  <a:txBody>
                    <a:bodyPr lIns="114300" tIns="114300" rIns="114300" bIns="114300"/>
                    <a:lstStyle/>
                    <a:p>
                      <a:r>
                        <a:rPr sz="2100" b="0">
                          <a:solidFill>
                            <a:srgbClr val="1B3028"/>
                          </a:solidFill>
                          <a:latin typeface="Arial"/>
                          <a:ea typeface="Arial"/>
                          <a:cs typeface="Arial"/>
                        </a:rPr>
                        <a:t>Серверные тесты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D6"/>
                      </a:solidFill>
                      <a:prstDash val="solid"/>
                    </a:lnL>
                    <a:lnR w="9525">
                      <a:solidFill>
                        <a:srgbClr val="D9E1D6"/>
                      </a:solidFill>
                      <a:prstDash val="solid"/>
                    </a:lnR>
                    <a:lnB w="9525">
                      <a:solidFill>
                        <a:srgbClr val="D9E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00" b="0">
                          <a:solidFill>
                            <a:srgbClr val="1B3028"/>
                          </a:solidFill>
                          <a:latin typeface="Arial"/>
                          <a:ea typeface="Arial"/>
                          <a:cs typeface="Arial"/>
                        </a:rPr>
                        <a:t>92 прошли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D6"/>
                      </a:solidFill>
                      <a:prstDash val="solid"/>
                    </a:lnR>
                    <a:lnB w="9525">
                      <a:solidFill>
                        <a:srgbClr val="D9E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 lIns="114300" tIns="114300" rIns="114300" bIns="114300"/>
                    <a:lstStyle/>
                    <a:p>
                      <a:r>
                        <a:rPr sz="2100" b="0">
                          <a:solidFill>
                            <a:srgbClr val="1B3028"/>
                          </a:solidFill>
                          <a:latin typeface="Arial"/>
                          <a:ea typeface="Arial"/>
                          <a:cs typeface="Arial"/>
                        </a:rPr>
                        <a:t>Тесты интерфейса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D6"/>
                      </a:solidFill>
                      <a:prstDash val="solid"/>
                    </a:lnL>
                    <a:lnR w="9525">
                      <a:solidFill>
                        <a:srgbClr val="D9E1D6"/>
                      </a:solidFill>
                      <a:prstDash val="solid"/>
                    </a:lnR>
                    <a:lnB w="9525">
                      <a:solidFill>
                        <a:srgbClr val="D9E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00" b="0">
                          <a:solidFill>
                            <a:srgbClr val="1B3028"/>
                          </a:solidFill>
                          <a:latin typeface="Arial"/>
                          <a:ea typeface="Arial"/>
                          <a:cs typeface="Arial"/>
                        </a:rPr>
                        <a:t>50 прошли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D6"/>
                      </a:solidFill>
                      <a:prstDash val="solid"/>
                    </a:lnR>
                    <a:lnB w="9525">
                      <a:solidFill>
                        <a:srgbClr val="D9E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 lIns="114300" tIns="114300" rIns="114300" bIns="114300"/>
                    <a:lstStyle/>
                    <a:p>
                      <a:r>
                        <a:rPr sz="2100" b="0">
                          <a:solidFill>
                            <a:srgbClr val="1B3028"/>
                          </a:solidFill>
                          <a:latin typeface="Arial"/>
                          <a:ea typeface="Arial"/>
                          <a:cs typeface="Arial"/>
                        </a:rPr>
                        <a:t>Браузерные сценарии с API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D6"/>
                      </a:solidFill>
                      <a:prstDash val="solid"/>
                    </a:lnL>
                    <a:lnR w="9525">
                      <a:solidFill>
                        <a:srgbClr val="D9E1D6"/>
                      </a:solidFill>
                      <a:prstDash val="solid"/>
                    </a:lnR>
                    <a:lnB w="9525">
                      <a:solidFill>
                        <a:srgbClr val="D9E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00" b="0">
                          <a:solidFill>
                            <a:srgbClr val="1B3028"/>
                          </a:solidFill>
                          <a:latin typeface="Arial"/>
                          <a:ea typeface="Arial"/>
                          <a:cs typeface="Arial"/>
                        </a:rPr>
                        <a:t>21 прошёл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D6"/>
                      </a:solidFill>
                      <a:prstDash val="solid"/>
                    </a:lnR>
                    <a:lnB w="9525">
                      <a:solidFill>
                        <a:srgbClr val="D9E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 lIns="114300" tIns="114300" rIns="114300" bIns="114300"/>
                    <a:lstStyle/>
                    <a:p>
                      <a:r>
                        <a:rPr sz="2100" b="0">
                          <a:solidFill>
                            <a:srgbClr val="1B3028"/>
                          </a:solidFill>
                          <a:latin typeface="Arial"/>
                          <a:ea typeface="Arial"/>
                          <a:cs typeface="Arial"/>
                        </a:rPr>
                        <a:t>Покрытие строк сервисов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D6"/>
                      </a:solidFill>
                      <a:prstDash val="solid"/>
                    </a:lnL>
                    <a:lnR w="9525">
                      <a:solidFill>
                        <a:srgbClr val="D9E1D6"/>
                      </a:solidFill>
                      <a:prstDash val="solid"/>
                    </a:lnR>
                    <a:lnB w="9525">
                      <a:solidFill>
                        <a:srgbClr val="D9E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00" b="0">
                          <a:solidFill>
                            <a:srgbClr val="1B3028"/>
                          </a:solidFill>
                          <a:latin typeface="Arial"/>
                          <a:ea typeface="Arial"/>
                          <a:cs typeface="Arial"/>
                        </a:rPr>
                        <a:t>97,3%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D6"/>
                      </a:solidFill>
                      <a:prstDash val="solid"/>
                    </a:lnR>
                    <a:lnB w="9525">
                      <a:solidFill>
                        <a:srgbClr val="D9E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1657C5-A956-451C-B21A-6A90513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Сайт: </a:t>
            </a:r>
            <a:r>
              <a:rPr sz="1875" b="0">
                <a:solidFill>
                  <a:srgbClr val="1B3028"/>
                </a:solidFill>
                <a:latin typeface="Arial"/>
                <a:ea typeface="Arial"/>
                <a:cs typeface="Arial"/>
                <a:hlinkClick xmlns:r="http://schemas.openxmlformats.org/officeDocument/2006/relationships" r:id="R2aa8d27ac5e546f7"/>
              </a:rPr>
              <a:t>https://85.8.201.148/login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4EAC1-3AE2-4613-AC87-7BCE6866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B302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B3028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1875" b="0">
                <a:solidFill>
                  <a:srgbClr val="1B3028"/>
                </a:solidFill>
                <a:latin typeface="Arial"/>
                <a:ea typeface="Arial"/>
                <a:cs typeface="Arial"/>
                <a:hlinkClick xmlns:r="http://schemas.openxmlformats.org/officeDocument/2006/relationships" r:id="R362bad722c624b0e"/>
              </a:rPr>
              <a:t>Samirrrrr123/college-inventory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6572E-85CA-4284-B9F5-E62C24E0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85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85D"/>
                </a:solidFill>
                <a:latin typeface="Arial"/>
                <a:ea typeface="Arial"/>
                <a:cs typeface="Arial"/>
              </a:rPr>
              <a:t>10 / 10   Артём</a:t>
            </a:r>
          </a:p>
        </p:txBody>
      </p:sp>
    </p:spTree>
    <p:extLst>
      <p:ext uri="{BB962C8B-B14F-4D97-AF65-F5344CB8AC3E}">
        <p14:creationId xmlns:p14="http://schemas.microsoft.com/office/powerpoint/2010/main" val="17183939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2026-10-21T22:13:58.9040000Z</dcterms:created>
  <dcterms:modified xsi:type="dcterms:W3CDTF">2026-10-21T22:13:58.9040000Z</dcterms:modified>
</coreProperties>
</file>